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Province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Province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1E2761"/>
              </a:solidFill>
            </c:spPr>
          </c:dPt>
          <c:dPt>
            <c:idx val="5"/>
            <c:spPr>
              <a:solidFill>
                <a:srgbClr val="1E2761"/>
              </a:solidFill>
            </c:spPr>
          </c:dPt>
          <c:dPt>
            <c:idx val="6"/>
            <c:spPr>
              <a:solidFill>
                <a:srgbClr val="1E2761"/>
              </a:solidFill>
            </c:spPr>
          </c:dPt>
          <c:dPt>
            <c:idx val="7"/>
            <c:spPr>
              <a:solidFill>
                <a:srgbClr val="1E2761"/>
              </a:solidFill>
            </c:spPr>
          </c:dPt>
          <c:dPt>
            <c:idx val="8"/>
            <c:spPr>
              <a:solidFill>
                <a:srgbClr val="1E2761"/>
              </a:solidFill>
            </c:spPr>
          </c:dPt>
          <c:dPt>
            <c:idx val="9"/>
            <c:spPr>
              <a:solidFill>
                <a:srgbClr val="FFB380"/>
              </a:solidFill>
            </c:spPr>
          </c:dPt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  <c:pt idx="9">
                  <c:v>None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3654</c:v>
                </c:pt>
                <c:pt idx="1">
                  <c:v>1845</c:v>
                </c:pt>
                <c:pt idx="2">
                  <c:v>1001</c:v>
                </c:pt>
                <c:pt idx="3">
                  <c:v>918</c:v>
                </c:pt>
                <c:pt idx="4">
                  <c:v>763</c:v>
                </c:pt>
                <c:pt idx="5">
                  <c:v>690</c:v>
                </c:pt>
                <c:pt idx="6">
                  <c:v>344</c:v>
                </c:pt>
                <c:pt idx="7">
                  <c:v>292</c:v>
                </c:pt>
                <c:pt idx="8">
                  <c:v>230</c:v>
                </c:pt>
                <c:pt idx="9">
                  <c:v>263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Channel (Top 21)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Channel (Top 21)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1E2761"/>
              </a:solidFill>
            </c:spPr>
          </c:dPt>
          <c:dPt>
            <c:idx val="5"/>
            <c:spPr>
              <a:solidFill>
                <a:srgbClr val="1E2761"/>
              </a:solidFill>
            </c:spPr>
          </c:dPt>
          <c:dPt>
            <c:idx val="6"/>
            <c:spPr>
              <a:solidFill>
                <a:srgbClr val="1E2761"/>
              </a:solidFill>
            </c:spPr>
          </c:dPt>
          <c:dPt>
            <c:idx val="7"/>
            <c:spPr>
              <a:solidFill>
                <a:srgbClr val="1E2761"/>
              </a:solidFill>
            </c:spPr>
          </c:dPt>
          <c:dPt>
            <c:idx val="8"/>
            <c:spPr>
              <a:solidFill>
                <a:srgbClr val="1E2761"/>
              </a:solidFill>
            </c:spPr>
          </c:dPt>
          <c:dPt>
            <c:idx val="9"/>
            <c:spPr>
              <a:solidFill>
                <a:srgbClr val="1E2761"/>
              </a:solidFill>
            </c:spPr>
          </c:dPt>
          <c:dPt>
            <c:idx val="10"/>
            <c:spPr>
              <a:solidFill>
                <a:srgbClr val="1E2761"/>
              </a:solidFill>
            </c:spPr>
          </c:dPt>
          <c:dPt>
            <c:idx val="11"/>
            <c:spPr>
              <a:solidFill>
                <a:srgbClr val="1E2761"/>
              </a:solidFill>
            </c:spPr>
          </c:dPt>
          <c:dPt>
            <c:idx val="12"/>
            <c:spPr>
              <a:solidFill>
                <a:srgbClr val="1E2761"/>
              </a:solidFill>
            </c:spPr>
          </c:dPt>
          <c:dPt>
            <c:idx val="13"/>
            <c:spPr>
              <a:solidFill>
                <a:srgbClr val="1E2761"/>
              </a:solidFill>
            </c:spPr>
          </c:dPt>
          <c:dPt>
            <c:idx val="14"/>
            <c:spPr>
              <a:solidFill>
                <a:srgbClr val="1E2761"/>
              </a:solidFill>
            </c:spPr>
          </c:dPt>
          <c:dPt>
            <c:idx val="15"/>
            <c:spPr>
              <a:solidFill>
                <a:srgbClr val="1E2761"/>
              </a:solidFill>
            </c:spPr>
          </c:dPt>
          <c:dPt>
            <c:idx val="16"/>
            <c:spPr>
              <a:solidFill>
                <a:srgbClr val="1E2761"/>
              </a:solidFill>
            </c:spPr>
          </c:dPt>
          <c:dPt>
            <c:idx val="17"/>
            <c:spPr>
              <a:solidFill>
                <a:srgbClr val="1E2761"/>
              </a:solidFill>
            </c:spPr>
          </c:dPt>
          <c:dPt>
            <c:idx val="18"/>
            <c:spPr>
              <a:solidFill>
                <a:srgbClr val="1E2761"/>
              </a:solidFill>
            </c:spPr>
          </c:dPt>
          <c:dPt>
            <c:idx val="19"/>
            <c:spPr>
              <a:solidFill>
                <a:srgbClr val="1E2761"/>
              </a:solidFill>
            </c:spPr>
          </c:dPt>
          <c:dPt>
            <c:idx val="20"/>
            <c:spPr>
              <a:solidFill>
                <a:srgbClr val="1E2761"/>
              </a:solidFill>
            </c:spPr>
          </c:dPt>
          <c:cat>
            <c:strRef>
              <c:f>Sheet1!$A$2:$A$22</c:f>
              <c:strCache>
                <c:ptCount val="21"/>
                <c:pt idx="0">
                  <c:v>Supersport Live Events</c:v>
                </c:pt>
                <c:pt idx="1">
                  <c:v>ICC Cricket World Cup 2011</c:v>
                </c:pt>
                <c:pt idx="2">
                  <c:v>Channel O</c:v>
                </c:pt>
                <c:pt idx="3">
                  <c:v>Trace TV</c:v>
                </c:pt>
                <c:pt idx="4">
                  <c:v>SuperSport Blitz</c:v>
                </c:pt>
                <c:pt idx="5">
                  <c:v>Africa Magic</c:v>
                </c:pt>
                <c:pt idx="6">
                  <c:v>Cartoon Network</c:v>
                </c:pt>
                <c:pt idx="7">
                  <c:v>Boomerang</c:v>
                </c:pt>
                <c:pt idx="8">
                  <c:v>CNN</c:v>
                </c:pt>
                <c:pt idx="9">
                  <c:v>E! Entertainment</c:v>
                </c:pt>
                <c:pt idx="10">
                  <c:v>SawSee</c:v>
                </c:pt>
                <c:pt idx="11">
                  <c:v>M-Net</c:v>
                </c:pt>
                <c:pt idx="12">
                  <c:v>Vuzu</c:v>
                </c:pt>
                <c:pt idx="13">
                  <c:v>DStv Events 1</c:v>
                </c:pt>
                <c:pt idx="14">
                  <c:v>Break in transmission</c:v>
                </c:pt>
                <c:pt idx="15">
                  <c:v>kykNET</c:v>
                </c:pt>
                <c:pt idx="16">
                  <c:v>MK</c:v>
                </c:pt>
                <c:pt idx="17">
                  <c:v>SuperSport Live Events </c:v>
                </c:pt>
                <c:pt idx="18">
                  <c:v>Sawsee</c:v>
                </c:pt>
                <c:pt idx="19">
                  <c:v>Wimbledon</c:v>
                </c:pt>
                <c:pt idx="20">
                  <c:v>Live on SuperSport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1638</c:v>
                </c:pt>
                <c:pt idx="1">
                  <c:v>1465</c:v>
                </c:pt>
                <c:pt idx="2">
                  <c:v>1050</c:v>
                </c:pt>
                <c:pt idx="3">
                  <c:v>952</c:v>
                </c:pt>
                <c:pt idx="4">
                  <c:v>896</c:v>
                </c:pt>
                <c:pt idx="5">
                  <c:v>859</c:v>
                </c:pt>
                <c:pt idx="6">
                  <c:v>793</c:v>
                </c:pt>
                <c:pt idx="7">
                  <c:v>714</c:v>
                </c:pt>
                <c:pt idx="8">
                  <c:v>505</c:v>
                </c:pt>
                <c:pt idx="9">
                  <c:v>367</c:v>
                </c:pt>
                <c:pt idx="10">
                  <c:v>251</c:v>
                </c:pt>
                <c:pt idx="11">
                  <c:v>116</c:v>
                </c:pt>
                <c:pt idx="12">
                  <c:v>111</c:v>
                </c:pt>
                <c:pt idx="13">
                  <c:v>107</c:v>
                </c:pt>
                <c:pt idx="14">
                  <c:v>66</c:v>
                </c:pt>
                <c:pt idx="15">
                  <c:v>45</c:v>
                </c:pt>
                <c:pt idx="16">
                  <c:v>32</c:v>
                </c:pt>
                <c:pt idx="17">
                  <c:v>24</c:v>
                </c:pt>
                <c:pt idx="18">
                  <c:v>4</c:v>
                </c:pt>
                <c:pt idx="19">
                  <c:v>3</c:v>
                </c:pt>
                <c:pt idx="20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Age Group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Age Group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4C72B0"/>
              </a:solidFill>
            </c:spPr>
          </c:dPt>
          <c:dPt>
            <c:idx val="3"/>
            <c:spPr>
              <a:solidFill>
                <a:srgbClr val="DD8852"/>
              </a:solidFill>
            </c:spPr>
          </c:dPt>
          <c:cat>
            <c:strRef>
              <c:f>Sheet1!$A$2:$A$5</c:f>
              <c:strCache>
                <c:ptCount val="4"/>
                <c:pt idx="0">
                  <c:v>Youth</c:v>
                </c:pt>
                <c:pt idx="1">
                  <c:v>Adult</c:v>
                </c:pt>
                <c:pt idx="2">
                  <c:v>Minor</c:v>
                </c:pt>
                <c:pt idx="3">
                  <c:v>Retired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5632</c:v>
                </c:pt>
                <c:pt idx="1">
                  <c:v>3725</c:v>
                </c:pt>
                <c:pt idx="2">
                  <c:v>539</c:v>
                </c:pt>
                <c:pt idx="3">
                  <c:v>104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Gender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Gender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FFB380"/>
              </a:solidFill>
            </c:spPr>
          </c:dPt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None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8761</c:v>
                </c:pt>
                <c:pt idx="1">
                  <c:v>977</c:v>
                </c:pt>
                <c:pt idx="2">
                  <c:v>262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Race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Race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4C72B0"/>
              </a:solidFill>
            </c:spPr>
          </c:dPt>
          <c:dPt>
            <c:idx val="3"/>
            <c:spPr>
              <a:solidFill>
                <a:srgbClr val="DD8852"/>
              </a:solidFill>
            </c:spPr>
          </c:dPt>
          <c:dPt>
            <c:idx val="4"/>
            <c:spPr>
              <a:solidFill>
                <a:srgbClr val="55A868"/>
              </a:solidFill>
            </c:spPr>
          </c:dPt>
          <c:dPt>
            <c:idx val="5"/>
            <c:spPr>
              <a:solidFill>
                <a:srgbClr val="FFB380"/>
              </a:solidFill>
            </c:spPr>
          </c:dPt>
          <c:cat>
            <c:strRef>
              <c:f>Sheet1!$A$2:$A$7</c:f>
              <c:strCache>
                <c:ptCount val="6"/>
                <c:pt idx="0">
                  <c:v>Black</c:v>
                </c:pt>
                <c:pt idx="1">
                  <c:v>Coloured</c:v>
                </c:pt>
                <c:pt idx="2">
                  <c:v>Indian/Asian</c:v>
                </c:pt>
                <c:pt idx="3">
                  <c:v>White</c:v>
                </c:pt>
                <c:pt idx="4">
                  <c:v>Other</c:v>
                </c:pt>
                <c:pt idx="5">
                  <c:v>None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4331</c:v>
                </c:pt>
                <c:pt idx="1">
                  <c:v>1633</c:v>
                </c:pt>
                <c:pt idx="2">
                  <c:v>1575</c:v>
                </c:pt>
                <c:pt idx="3">
                  <c:v>1292</c:v>
                </c:pt>
                <c:pt idx="4">
                  <c:v>102</c:v>
                </c:pt>
                <c:pt idx="5">
                  <c:v>1067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Viewing Hour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Viewing Hour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dPt>
            <c:idx val="2"/>
            <c:spPr>
              <a:solidFill>
                <a:srgbClr val="4C72B0"/>
              </a:solidFill>
            </c:spPr>
          </c:dPt>
          <c:dPt>
            <c:idx val="3"/>
            <c:spPr>
              <a:solidFill>
                <a:srgbClr val="FFB380"/>
              </a:solidFill>
            </c:spPr>
          </c:dPt>
          <c:cat>
            <c:strRef>
              <c:f>Sheet1!$A$2:$A$5</c:f>
              <c:strCache>
                <c:ptCount val="4"/>
                <c:pt idx="0">
                  <c:v>Evening hours</c:v>
                </c:pt>
                <c:pt idx="1">
                  <c:v>Afternoon hours</c:v>
                </c:pt>
                <c:pt idx="2">
                  <c:v>Morning Hours</c:v>
                </c:pt>
                <c:pt idx="3">
                  <c:v>None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3992</c:v>
                </c:pt>
                <c:pt idx="1">
                  <c:v>3086</c:v>
                </c:pt>
                <c:pt idx="2">
                  <c:v>2922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Views per Day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Views per Day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dPt>
            <c:idx val="4"/>
            <c:spPr>
              <a:solidFill>
                <a:srgbClr val="1E2761"/>
              </a:solidFill>
            </c:spPr>
          </c:dPt>
          <c:dPt>
            <c:idx val="5"/>
            <c:spPr>
              <a:solidFill>
                <a:srgbClr val="1E2761"/>
              </a:solidFill>
            </c:spPr>
          </c:dPt>
          <c:dPt>
            <c:idx val="6"/>
            <c:spPr>
              <a:solidFill>
                <a:srgbClr val="1E2761"/>
              </a:solidFill>
            </c:spPr>
          </c:dPt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957</c:v>
                </c:pt>
                <c:pt idx="1">
                  <c:v>1322</c:v>
                </c:pt>
                <c:pt idx="2">
                  <c:v>1553</c:v>
                </c:pt>
                <c:pt idx="3">
                  <c:v>1441</c:v>
                </c:pt>
                <c:pt idx="4">
                  <c:v>1675</c:v>
                </c:pt>
                <c:pt idx="5">
                  <c:v>1633</c:v>
                </c:pt>
                <c:pt idx="6">
                  <c:v>1419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Monthly Consumption (Watch Seconds)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Consumption (Watch Seconds)</c:v>
                </c:pt>
              </c:strCache>
            </c:strRef>
          </c:tx>
          <c:marker>
            <c:symbol val="none"/>
          </c:marker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1048227</c:v>
                </c:pt>
                <c:pt idx="1">
                  <c:v>1414456</c:v>
                </c:pt>
                <c:pt idx="2">
                  <c:v>3019545</c:v>
                </c:pt>
                <c:pt idx="3">
                  <c:v>575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E2761"/>
                </a:solidFill>
              </a:rPr>
              <a:t>'None' counts by dimension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'None' counts by dimension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1E2761"/>
              </a:solidFill>
            </c:spPr>
          </c:dPt>
          <c:dPt>
            <c:idx val="2"/>
            <c:spPr>
              <a:solidFill>
                <a:srgbClr val="1E2761"/>
              </a:solidFill>
            </c:spPr>
          </c:dPt>
          <c:dPt>
            <c:idx val="3"/>
            <c:spPr>
              <a:solidFill>
                <a:srgbClr val="1E2761"/>
              </a:solidFill>
            </c:spPr>
          </c:dPt>
          <c:cat>
            <c:strRef>
              <c:f>Sheet1!$A$2:$A$5</c:f>
              <c:strCache>
                <c:ptCount val="4"/>
                <c:pt idx="0">
                  <c:v>Province</c:v>
                </c:pt>
                <c:pt idx="1">
                  <c:v>Gender</c:v>
                </c:pt>
                <c:pt idx="2">
                  <c:v>Race</c:v>
                </c:pt>
                <c:pt idx="3">
                  <c:v>Viewing Hour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263</c:v>
                </c:pt>
                <c:pt idx="1">
                  <c:v>262</c:v>
                </c:pt>
                <c:pt idx="2">
                  <c:v>1067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BrightTV Viewership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Strategic insights for the CEO  •  Including 'None' data quality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02336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FFFFFF"/>
                </a:solidFill>
                <a:latin typeface="Calibri"/>
              </a:rPr>
              <a:t>Source: BrightTV_Visualizations.xlsx  |  Prepared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Georgia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1. Headline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2. Views per Province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3. Views per Channel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4. Views per Age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5. Views per Gender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6. Views per 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7. Viewing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8. Day-of-Week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9. Monthly 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10. Data Quality — 'None'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Calibri"/>
              </a:rPr>
              <a:t>11.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200" b="1">
                <a:solidFill>
                  <a:srgbClr val="1E2761"/>
                </a:solidFill>
                <a:latin typeface="Georgia"/>
              </a:rPr>
              <a:t>Headline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2651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Total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C9A227"/>
                </a:solidFill>
                <a:latin typeface="Georgia"/>
              </a:rPr>
              <a:t>1,523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200400"/>
            <a:ext cx="2651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Total Watch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1E2761"/>
                </a:solidFill>
                <a:latin typeface="Georgia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00400"/>
            <a:ext cx="2651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Channels Tracked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6517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65176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000" b="1">
                <a:solidFill>
                  <a:srgbClr val="C9A227"/>
                </a:solidFill>
                <a:latin typeface="Georgia"/>
              </a:rPr>
              <a:t>9 + 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200400"/>
            <a:ext cx="26517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222222"/>
                </a:solidFill>
                <a:latin typeface="Calibri"/>
              </a:rPr>
              <a:t>Provinces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Calibri"/>
              </a:rPr>
              <a:t>Note: 'None' values now visible across all charts to expose data-quality gaps in source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Province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Gauteng leads with 3,654 views (37%) followed by Western Cape (1,845). 'None' province bucket = 263 — flagged for data cleanup.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Double-down on Gauteng and Western Cape. Investigate the 'None' province records — likely missing geo-tags from device sign-ups.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Channel (Top 21)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Sport dominates: Supersport Live Events (1,638) + ICC Cricket (1,465) = 31% of views. Music (Channel O, Trace) and Kids (Cartoon, Boomerang) follow.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Bundle a 'Sport+' tier. Promote music &amp; kids during off-peak. Consolidate duplicate channel names (SawSee/Sawsee, Supersport variants).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Age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Youth (56%) and Adult (37%) drive 93% of viewing. Minor (5%) and Retired (1%) are underserved.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Build Youth-led campaigns (music, sport, gaming). Consider a Retired-friendly programming block to grow the 1% segment.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Gender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Male viewers dominate at 8,761 (88%). Female only 977 (10%). 'None' gender = 262 — significant data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Launch female-targeted content and acquisition. Enforce gender capture at sign-up to reduce 'None'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Race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Black audience leads (4,331). Coloured + Indian/Asian roughly equal (~1.6k each). White 1,292. 'None' = 1067 demographic gaps.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Diversify content reflecting top demographics. Improve onboarding form to capture race for better targeting.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Viewing Hour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Evening (40%) is peak, Afternoon (31%) and Morning (29%) close behind. 'None' hour bucket =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Schedule premium premieres in Evening. Use Morning slot for kids content. Investigate 'None' timestamps — possible logging bug.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Views per 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Friday (1,675) and Saturday (1,633) peak. Monday (957) is the weakest day — a clear engagement dip.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Launch a 'Monday Premiere' strategy with a flagship show to lift the start-of-week.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Monthly Consumption (Watch Seconds)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68580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5F5F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Insight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March consumption (3.0M sec) tripled February. April only 575 sec — incomplete data, not a real drop.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Verify April data capture. Plan content drops mirroring March's spike (sport tournaments likely drove it).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2800" b="1">
                <a:solidFill>
                  <a:srgbClr val="1E2761"/>
                </a:solidFill>
                <a:latin typeface="Georgia"/>
              </a:rPr>
              <a:t>Data Quality — 'None'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51560"/>
            <a:ext cx="13716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89520" y="1463040"/>
            <a:ext cx="42062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1E2761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03120"/>
            <a:ext cx="39319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Race has the largest gap (1,067 missing).
Gender misses 262 records.
Viewing hour misses negligible amount.
These gaps reduce targeting accuracy.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114800"/>
            <a:ext cx="3931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600" b="1">
                <a:solidFill>
                  <a:srgbClr val="C9A227"/>
                </a:solidFill>
                <a:latin typeface="Calibri"/>
              </a:rPr>
              <a:t>Action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9319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Calibri"/>
              </a:rPr>
              <a:t>1. Make demographic fields mandatory at sign-up
2. Backfill via progressive profiling
3. Add daily DQ alerts in Databricks
4. Re-run report monthly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Georgia"/>
              </a:rPr>
              <a:t>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82880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9A227"/>
                </a:solidFill>
                <a:latin typeface="Calibri"/>
              </a:rPr>
              <a:t>1. Geographic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Invest in Gauteng &amp; Western Cape; pilot growth campaigns in Limpopo/Mpumalanga.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9A227"/>
                </a:solidFill>
                <a:latin typeface="Calibri"/>
              </a:rPr>
              <a:t>2. Sport-led bundling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79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Launch 'Sport+' tier — sport already drives 31% of 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9A227"/>
                </a:solidFill>
                <a:latin typeface="Calibri"/>
              </a:rPr>
              <a:t>3. Female audience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Target the 88/10 male/female imbalance with curated female-led content.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9A227"/>
                </a:solidFill>
                <a:latin typeface="Calibri"/>
              </a:rPr>
              <a:t>4. Monday Premiere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Boost the weakest day with a flagship weekly premiere.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1">
                <a:solidFill>
                  <a:srgbClr val="C9A227"/>
                </a:solidFill>
                <a:latin typeface="Calibri"/>
              </a:rPr>
              <a:t>5. Data quality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Eliminate 'None' values in race, gender, province via mandatory sign-up fields.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800" b="0">
                <a:solidFill>
                  <a:srgbClr val="C9A227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